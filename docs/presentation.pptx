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9365-4F5D-84A4-5FD82C7B1DDC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9365-4F5D-84A4-5FD82C7B1DDC}"/>
              </c:ext>
            </c:extLst>
          </c:dPt>
          <c:dPt>
            <c:idx val="2"/>
            <c:bubble3D val="0"/>
            <c:spPr>
              <a:solidFill>
                <a:srgbClr val="EF4444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9365-4F5D-84A4-5FD82C7B1DD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365-4F5D-84A4-5FD82C7B1DD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365-4F5D-84A4-5FD82C7B1DD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365-4F5D-84A4-5FD82C7B1DD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|Sentiment| 0.40</c:v>
                </c:pt>
                <c:pt idx="1">
                  <c:v>Event weight 0.35</c:v>
                </c:pt>
                <c:pt idx="2">
                  <c:v>Severity keywords 0.25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35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365-4F5D-84A4-5FD82C7B1D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F172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Dynamic (SentinelRisk)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0F172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Total return (%)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7.69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38-48A7-9F0D-AD1C5CDCE6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Equal-weight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0F172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Total return (%)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E38-48A7-9F0D-AD1C5CDCE6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F172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0907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SentinelRisk is a real-time AI/NLP financial risk engine. It ingests unstructured text, scores sentiment and impact, and tactically rebalances an index to improve risk-adjusted returns. Headline numbers: 7.69% vs 6.50% equal-weight, Sharpe 2.16, max drawdown -8.69%.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Markets react instantly to unstructured text. SentinelRisk quantifies that impact and tilts index weights tactically, avoiding drawdowns from negative sentiment while keeping upside.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Modular pipeline: ingest news and tweets into a common schema, extract entities, score sentiment with FinBERT, classify events, aggregate to a 1-10 impact score, drive Module A's rebalancing, and visualise in Streamlit.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FinBERT for sentiment, hybrid rules plus zero-shot DeBERTa for events. Impact score = 10 x (0.4*|sentiment| + 0.35*event weight + 0.25*severity keywords), rounded and clipped.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A tilts a base equal-weight portfolio using an EWMA of sentiment, an exponential tilt, and iterative water-filling to enforce 2 to 15 percent bounds. Weights from T-1 signals apply to T returns. Transaction costs of 5 bps are charged.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Replay-window backtest, strict chronological separation (T-1 signals on T returns), 5 bps costs. Dynamic: 7.69% vs 6.50% equal-weight, Sharpe 2.16, vol 14.69%, max drawdown -8.69%, average turnover 1.37%.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Latency solved with batching; entity ambiguity with multi-ticker matching and MARKET fallback; noise with the hybrid classifier; reliability with graceful offline fallbacks; look-ahead bias with strict chronological backtesting.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Next: Module B stress testing, GDELT for macro news, Kafka streaming, fine-tuned FinBERT, and convex optimisation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SentinelRisk converts unstructured text into disciplined, cost-aware, bounded portfolio tilts with strict no-look-ahead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57200"/>
            <a:ext cx="4114800" cy="365760"/>
          </a:xfrm>
          <a:prstGeom prst="rect">
            <a:avLst/>
          </a:prstGeom>
          <a:solidFill>
            <a:srgbClr val="1E3C96"/>
          </a:solidFill>
          <a:ln>
            <a:solidFill>
              <a:srgbClr val="1E3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S&amp;P GLOBAL &amp; CRISIL CAMPUS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AI/NLP Financial Risk Engine &amp;</a:t>
            </a:r>
            <a:br>
              <a:rPr dirty="0"/>
            </a:br>
            <a:endParaRPr lang="en-IN" dirty="0"/>
          </a:p>
          <a:p>
            <a:pPr>
              <a:defRPr sz="2800" b="1">
                <a:solidFill>
                  <a:srgbClr val="00C8C8"/>
                </a:solidFill>
              </a:defRPr>
            </a:pPr>
            <a:r>
              <a:rPr lang="en-IN" dirty="0"/>
              <a:t>Tactical Index Rebalancing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423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B4B4"/>
                </a:solidFill>
              </a:defRPr>
            </a:pPr>
            <a:r>
              <a:t>Module A: Tactical High-Frequency Stock Index Rebalancer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0"/>
            <a:ext cx="4114800" cy="2286000"/>
          </a:xfrm>
          <a:prstGeom prst="rect">
            <a:avLst/>
          </a:prstGeom>
          <a:noFill/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C8C8"/>
                </a:solidFill>
              </a:defRPr>
            </a:pPr>
            <a:r>
              <a:t>CANDIDATE 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Candidate Name: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32918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PRADEEP MODAK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College Email ID: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6576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2023ugcm026@nitjsr.ac.in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College / Campus: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40233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NIT JAMSHEDPUR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891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Track / Module: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43891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864"/>
                </a:solidFill>
              </a:defRPr>
            </a:pPr>
            <a:r>
              <a:t>MODULE A (Tactical Index Rebalancing)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743200"/>
            <a:ext cx="3931920" cy="2286000"/>
          </a:xfrm>
          <a:prstGeom prst="rect">
            <a:avLst/>
          </a:prstGeom>
          <a:noFill/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0" y="283464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C8C8"/>
                </a:solidFill>
              </a:defRPr>
            </a:pPr>
            <a:r>
              <a:t>SYSTEM HIGHLIGHTS AT A GLANCE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29184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DCDC"/>
                </a:solidFill>
              </a:defRPr>
            </a:pPr>
            <a:r>
              <a:t>- FinBERT NLP: P(pos) - P(neg) Sentiment Scoring [-1.0 to +1.0]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65760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DCDC"/>
                </a:solidFill>
              </a:defRPr>
            </a:pPr>
            <a:r>
              <a:t>- Hybrid 6-Category Financial Event Taxonomy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02336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DCDC"/>
                </a:solidFill>
              </a:defRPr>
            </a:pPr>
            <a:r>
              <a:t>- 15-Ticker S&amp;P 100 Live Entity Extraction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38912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DCDC"/>
                </a:solidFill>
              </a:defRPr>
            </a:pPr>
            <a:r>
              <a:t>- Autonomous Rebalancing with Water-Filling Risk Bounds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Markets move on text. We score it instantly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554480"/>
            <a:ext cx="731520" cy="73152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70992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8803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react in seconds to unstructured text: news headlines and social media. Static index weights can't.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28016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1F5F9"/>
          </a:solidFill>
          <a:ln/>
        </p:spPr>
      </p:sp>
      <p:sp>
        <p:nvSpPr>
          <p:cNvPr id="9" name="Shape 6"/>
          <p:cNvSpPr/>
          <p:nvPr/>
        </p:nvSpPr>
        <p:spPr>
          <a:xfrm>
            <a:off x="3566160" y="1554480"/>
            <a:ext cx="731520" cy="73152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608" y="170992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28803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SentinelRisk quantifies textual impact in real time and tactically tilts index weights.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28016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1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6400800" y="1554480"/>
            <a:ext cx="731520" cy="73152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170992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Edge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28803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exposure to negative-sentiment drawdowns while still capturing upside.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SentinelRisk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325880"/>
            <a:ext cx="1417320" cy="214884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32588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76072" y="1325880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Sources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2648" y="2011680"/>
            <a:ext cx="128016" cy="128016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219456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NewsAPI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Stock Tweets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(live or replay)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38528" y="2395728"/>
            <a:ext cx="182880" cy="0"/>
          </a:xfrm>
          <a:prstGeom prst="line">
            <a:avLst/>
          </a:prstGeom>
          <a:noFill/>
          <a:ln w="28575">
            <a:solidFill>
              <a:srgbClr val="0A162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48840" y="1325880"/>
            <a:ext cx="1417320" cy="214884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2148840" y="132588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221992" y="1325880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Ingestion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58568" y="2011680"/>
            <a:ext cx="128016" cy="128016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240280" y="219456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to one common schema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84448" y="2395728"/>
            <a:ext cx="182880" cy="0"/>
          </a:xfrm>
          <a:prstGeom prst="line">
            <a:avLst/>
          </a:prstGeom>
          <a:noFill/>
          <a:ln w="28575">
            <a:solidFill>
              <a:srgbClr val="0A162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94760" y="1325880"/>
            <a:ext cx="1417320" cy="214884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3794760" y="132588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867912" y="1325880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NLP pipeline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04488" y="201168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886200" y="219456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extraction (15 tickers)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FinBERT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Event classifier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230368" y="2395728"/>
            <a:ext cx="182880" cy="0"/>
          </a:xfrm>
          <a:prstGeom prst="line">
            <a:avLst/>
          </a:prstGeom>
          <a:noFill/>
          <a:ln w="28575">
            <a:solidFill>
              <a:srgbClr val="0A162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440680" y="1325880"/>
            <a:ext cx="1417320" cy="214884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5440680" y="132588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513832" y="1325880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Impact scorer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550408" y="201168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532120" y="219456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1–10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JSONL output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76288" y="2395728"/>
            <a:ext cx="182880" cy="0"/>
          </a:xfrm>
          <a:prstGeom prst="line">
            <a:avLst/>
          </a:prstGeom>
          <a:noFill/>
          <a:ln w="28575">
            <a:solidFill>
              <a:srgbClr val="0A162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086600" y="1325880"/>
            <a:ext cx="1417320" cy="214884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</p:spPr>
      </p:sp>
      <p:sp>
        <p:nvSpPr>
          <p:cNvPr id="28" name="Shape 26"/>
          <p:cNvSpPr/>
          <p:nvPr/>
        </p:nvSpPr>
        <p:spPr>
          <a:xfrm>
            <a:off x="7086600" y="132588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159752" y="1325880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 Module A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196328" y="2011680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178040" y="219456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EWMA → exp tilt → water-fill rebalancer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" y="3749040"/>
            <a:ext cx="8046720" cy="68580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/>
        </p:spPr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04488"/>
            <a:ext cx="365760" cy="365760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1280160" y="374904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Dashboard  </a:t>
            </a: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Plotly: live scores, weights and performance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4572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SentinelRisk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 &amp; impact scoring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463040"/>
            <a:ext cx="457200" cy="457200"/>
          </a:xfrm>
          <a:prstGeom prst="ellipse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2801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extractor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dictionary + word-boundary regex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2423160"/>
            <a:ext cx="457200" cy="457200"/>
          </a:xfrm>
          <a:prstGeom prst="ellipse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2402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ProsusAI/FinBERT: finance-tuned, batched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3383280"/>
            <a:ext cx="457200" cy="457200"/>
          </a:xfrm>
          <a:prstGeom prst="ellipse">
            <a:avLst/>
          </a:prstGeom>
          <a:solidFill>
            <a:srgbClr val="0A162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20040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classifier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rules first, DeBERTa zero-shot fallback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0A162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41148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= clip(round(10 × score), 1–10)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the score</a:t>
            </a:r>
            <a:endParaRPr lang="en-US" sz="18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4846320" y="1600200"/>
          <a:ext cx="38404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4572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SentinelRisk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A: tactical index rebalancer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0A16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EWMA sentiment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stock, configurable half-life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313432" y="1737360"/>
            <a:ext cx="219456" cy="0"/>
          </a:xfrm>
          <a:prstGeom prst="line">
            <a:avLst/>
          </a:prstGeom>
          <a:noFill/>
          <a:ln w="28575">
            <a:solidFill>
              <a:srgbClr val="0A1628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560320" y="118872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0A16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651760" y="11887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tilt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∝ base × exp(k · EWMA)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16552" y="1737360"/>
            <a:ext cx="219456" cy="0"/>
          </a:xfrm>
          <a:prstGeom prst="line">
            <a:avLst/>
          </a:prstGeom>
          <a:noFill/>
          <a:ln w="28575">
            <a:solidFill>
              <a:srgbClr val="0A162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63440" y="118872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0A16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54880" y="11887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Water-filling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weight bounds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19672" y="1737360"/>
            <a:ext cx="219456" cy="0"/>
          </a:xfrm>
          <a:prstGeom prst="line">
            <a:avLst/>
          </a:prstGeom>
          <a:noFill/>
          <a:ln w="28575">
            <a:solidFill>
              <a:srgbClr val="0A162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766560" y="118872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10B98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0" y="11887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T-1 to T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look-ahead bias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each stock's weight is allowed to live (15-stock index)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3520440"/>
            <a:ext cx="749808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1572768" y="3520440"/>
            <a:ext cx="4873752" cy="365760"/>
          </a:xfrm>
          <a:prstGeom prst="rect">
            <a:avLst/>
          </a:prstGeom>
          <a:solidFill>
            <a:srgbClr val="10B981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294888" y="3410712"/>
            <a:ext cx="54864" cy="585216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8" name="Shape 16"/>
          <p:cNvSpPr/>
          <p:nvPr/>
        </p:nvSpPr>
        <p:spPr>
          <a:xfrm>
            <a:off x="1554480" y="3410712"/>
            <a:ext cx="36576" cy="58521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32688" y="40507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floor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28232" y="3410712"/>
            <a:ext cx="36576" cy="58521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806440" y="40507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cap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499360" y="3063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6.67% equal-weight base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322576" y="40507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tilts weights inside the green zone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3708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bps transaction cost per unit of turnover is deducted in the backtest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SentinelRisk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Backtest: dynamic beats equal-weight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20624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</p:spPr>
      </p:sp>
      <p:graphicFrame>
        <p:nvGraphicFramePr>
          <p:cNvPr id="4" name="Chart 0"/>
          <p:cNvGraphicFramePr/>
          <p:nvPr/>
        </p:nvGraphicFramePr>
        <p:xfrm>
          <a:off x="548640" y="1280160"/>
          <a:ext cx="402336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937760" y="1188720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13264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074920" y="129844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2.16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074920" y="19019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903720" y="1188720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13264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040880" y="129844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14.69%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7040880" y="19019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volatility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937760" y="2468880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13264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074920" y="257860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-8.69%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5074920" y="31821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903720" y="2468880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13264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040880" y="257860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1.37%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7040880" y="31821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turnover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937760" y="374904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10B98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074920" y="37490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+1.19 pp over equal-weight, net of 5 bps costs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SentinelRisk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survive messy real-world data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834640" y="1463040"/>
            <a:ext cx="365760" cy="0"/>
          </a:xfrm>
          <a:prstGeom prst="line">
            <a:avLst/>
          </a:prstGeom>
          <a:noFill/>
          <a:ln w="28575">
            <a:solidFill>
              <a:srgbClr val="0A1628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291840" y="1188720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D1FAE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29000" y="11887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sentiment inference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8470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834640" y="2121408"/>
            <a:ext cx="365760" cy="0"/>
          </a:xfrm>
          <a:prstGeom prst="line">
            <a:avLst/>
          </a:prstGeom>
          <a:noFill/>
          <a:ln w="28575">
            <a:solidFill>
              <a:srgbClr val="0A162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91840" y="1847088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D1FAE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29000" y="18470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Multi-ticker matching + MARKET fallback for general news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505456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250545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834640" y="2779776"/>
            <a:ext cx="365760" cy="0"/>
          </a:xfrm>
          <a:prstGeom prst="line">
            <a:avLst/>
          </a:prstGeom>
          <a:noFill/>
          <a:ln w="28575">
            <a:solidFill>
              <a:srgbClr val="0A162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291840" y="2505456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D1FAE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29000" y="250545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event classifier ignores irrelevant text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163824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316382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834640" y="3438144"/>
            <a:ext cx="365760" cy="0"/>
          </a:xfrm>
          <a:prstGeom prst="line">
            <a:avLst/>
          </a:prstGeom>
          <a:noFill/>
          <a:ln w="28575">
            <a:solidFill>
              <a:srgbClr val="0A162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291840" y="3163824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D1FAE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29000" y="316382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mode, keyword sentiment, cached prices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822192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4360" y="38221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Look-ahead bias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834640" y="4096512"/>
            <a:ext cx="365760" cy="0"/>
          </a:xfrm>
          <a:prstGeom prst="line">
            <a:avLst/>
          </a:prstGeom>
          <a:noFill/>
          <a:ln w="28575">
            <a:solidFill>
              <a:srgbClr val="0A162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291840" y="3822192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D1FAE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429000" y="382219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chronological separation in the backtest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SentinelRisk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Roadmap: from prototype to platform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874520"/>
            <a:ext cx="7498080" cy="0"/>
          </a:xfrm>
          <a:prstGeom prst="line">
            <a:avLst/>
          </a:prstGeom>
          <a:noFill/>
          <a:ln w="381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463040"/>
            <a:ext cx="822960" cy="82296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66420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4688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B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0175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tests triggered by events with Impact &gt; 7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606040" y="1463040"/>
            <a:ext cx="822960" cy="82296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7208" y="16642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148840" y="24688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GDELT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2148840" y="30175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and geopolitical news coverage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297680" y="1463040"/>
            <a:ext cx="822960" cy="82296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1664208"/>
            <a:ext cx="420624" cy="4206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840480" y="24688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Kafka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3840480" y="30175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pipeline for real-time scale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989320" y="1463040"/>
            <a:ext cx="822960" cy="82296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88" y="1664208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532120" y="24688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Fine-tuned FinBERT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5532120" y="30175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proprietary data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7680960" y="1463040"/>
            <a:ext cx="822960" cy="82296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82128" y="1664208"/>
            <a:ext cx="420624" cy="42062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223760" y="24688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Convex optimisation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7223760" y="30175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portfolio constraints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4572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SentinelRisk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731520"/>
            <a:ext cx="6400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headlines into risk control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FinBERT-powered signals  •  bounded, cost-aware rebalancing  •  no look-ahead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3474720"/>
            <a:ext cx="2926080" cy="731520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34747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2.16  |  +7.69%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3749040" y="34747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835</Words>
  <Application>Microsoft Office PowerPoint</Application>
  <PresentationFormat>On-screen Show (16:9)</PresentationFormat>
  <Paragraphs>137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SentinelRisk</dc:title>
  <dc:subject>PptxGenJS Presentation</dc:subject>
  <dc:creator>PptxGenJS</dc:creator>
  <cp:lastModifiedBy>Pradeep Modak</cp:lastModifiedBy>
  <cp:revision>2</cp:revision>
  <dcterms:created xsi:type="dcterms:W3CDTF">2026-10-10T14:05:01Z</dcterms:created>
  <dcterms:modified xsi:type="dcterms:W3CDTF">2026-10-10T16:17:28Z</dcterms:modified>
</cp:coreProperties>
</file>